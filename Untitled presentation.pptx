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d024153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d024153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9d024153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9d024153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d024153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d024153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09d024153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09d024153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09d02415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09d02415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d024153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d024153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9d02415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09d02415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9125" y="96475"/>
            <a:ext cx="8520600" cy="14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Global Superstore – Sales &amp; Profitability Analysis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779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Analyst Assessment | Management Insights &amp; Recommendations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69050" y="2469350"/>
            <a:ext cx="8205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Business Problem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To understand the key factors affecting sales and profitability across products, customers, regions and markets, and identify opportunities to improve overall business performance.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42825" y="3470700"/>
            <a:ext cx="78732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Objective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Analyze sales and profit trends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high-performing categories, markets and segments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Evaluate the impact of discounts on profitability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20650" y="26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&amp; Methodology 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2725" y="775050"/>
            <a:ext cx="8520600" cy="4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Dataset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Global Superstore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51,290 records | 24 columns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Time period: </a:t>
            </a:r>
            <a:r>
              <a:rPr b="1" lang="en-GB" sz="1300">
                <a:solidFill>
                  <a:schemeClr val="dk1"/>
                </a:solidFill>
              </a:rPr>
              <a:t>2011–2014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Source: </a:t>
            </a:r>
            <a:r>
              <a:rPr b="1" lang="en-GB" sz="1300">
                <a:solidFill>
                  <a:schemeClr val="dk1"/>
                </a:solidFill>
              </a:rPr>
              <a:t>Kaggle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Data Preparation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Duplicate records checked — </a:t>
            </a:r>
            <a:r>
              <a:rPr b="1" lang="en-GB" sz="1300">
                <a:solidFill>
                  <a:schemeClr val="dk1"/>
                </a:solidFill>
              </a:rPr>
              <a:t>no duplicates found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Missing </a:t>
            </a:r>
            <a:r>
              <a:rPr b="1" lang="en-GB" sz="1300">
                <a:solidFill>
                  <a:schemeClr val="dk1"/>
                </a:solidFill>
              </a:rPr>
              <a:t>Postal Code</a:t>
            </a:r>
            <a:r>
              <a:rPr lang="en-GB" sz="1300">
                <a:solidFill>
                  <a:schemeClr val="dk1"/>
                </a:solidFill>
              </a:rPr>
              <a:t> values replaced with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Profit Margin %</a:t>
            </a:r>
            <a:r>
              <a:rPr lang="en-GB" sz="1300">
                <a:solidFill>
                  <a:schemeClr val="dk1"/>
                </a:solidFill>
              </a:rPr>
              <a:t> calculated as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Profit ÷ Sales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Analysis Approach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Time-based sales &amp; profit trends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Category, Market &amp; Segment comparison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Discount vs. Profit analysis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KPI and interactive dashboard created in </a:t>
            </a:r>
            <a:r>
              <a:rPr b="1" lang="en-GB" sz="1300">
                <a:solidFill>
                  <a:schemeClr val="dk1"/>
                </a:solidFill>
              </a:rPr>
              <a:t>Looker Studio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 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1160700"/>
            <a:ext cx="8599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📈 </a:t>
            </a:r>
            <a:r>
              <a:rPr b="1" lang="en-GB" sz="1600">
                <a:solidFill>
                  <a:schemeClr val="dk1"/>
                </a:solidFill>
              </a:rPr>
              <a:t>Strong Sales Growth:</a:t>
            </a:r>
            <a:r>
              <a:rPr lang="en-GB" sz="1600">
                <a:solidFill>
                  <a:schemeClr val="dk1"/>
                </a:solidFill>
              </a:rPr>
              <a:t> Sales increased from </a:t>
            </a:r>
            <a:r>
              <a:rPr b="1" lang="en-GB" sz="1600">
                <a:solidFill>
                  <a:schemeClr val="dk1"/>
                </a:solidFill>
              </a:rPr>
              <a:t>$895.9K (2011)</a:t>
            </a:r>
            <a:r>
              <a:rPr lang="en-GB" sz="1600">
                <a:solidFill>
                  <a:schemeClr val="dk1"/>
                </a:solidFill>
              </a:rPr>
              <a:t> to </a:t>
            </a:r>
            <a:r>
              <a:rPr b="1" lang="en-GB" sz="1600">
                <a:solidFill>
                  <a:schemeClr val="dk1"/>
                </a:solidFill>
              </a:rPr>
              <a:t>$1.62M (2014)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💻 </a:t>
            </a:r>
            <a:r>
              <a:rPr b="1" lang="en-GB" sz="1600">
                <a:solidFill>
                  <a:schemeClr val="dk1"/>
                </a:solidFill>
              </a:rPr>
              <a:t>Technology Leads:</a:t>
            </a:r>
            <a:r>
              <a:rPr lang="en-GB" sz="1600">
                <a:solidFill>
                  <a:schemeClr val="dk1"/>
                </a:solidFill>
              </a:rPr>
              <a:t> Technology generated approximately </a:t>
            </a:r>
            <a:r>
              <a:rPr b="1" lang="en-GB" sz="1600">
                <a:solidFill>
                  <a:schemeClr val="dk1"/>
                </a:solidFill>
              </a:rPr>
              <a:t>$4.74M sales</a:t>
            </a:r>
            <a:r>
              <a:rPr lang="en-GB" sz="1600">
                <a:solidFill>
                  <a:schemeClr val="dk1"/>
                </a:solidFill>
              </a:rPr>
              <a:t> and </a:t>
            </a:r>
            <a:r>
              <a:rPr b="1" lang="en-GB" sz="1600">
                <a:solidFill>
                  <a:schemeClr val="dk1"/>
                </a:solidFill>
              </a:rPr>
              <a:t>$664K profit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🌍 </a:t>
            </a:r>
            <a:r>
              <a:rPr b="1" lang="en-GB" sz="1600">
                <a:solidFill>
                  <a:schemeClr val="dk1"/>
                </a:solidFill>
              </a:rPr>
              <a:t>APAC is the Top Market:</a:t>
            </a:r>
            <a:r>
              <a:rPr lang="en-GB" sz="1600">
                <a:solidFill>
                  <a:schemeClr val="dk1"/>
                </a:solidFill>
              </a:rPr>
              <a:t> APAC contributed approximately </a:t>
            </a:r>
            <a:r>
              <a:rPr b="1" lang="en-GB" sz="1600">
                <a:solidFill>
                  <a:schemeClr val="dk1"/>
                </a:solidFill>
              </a:rPr>
              <a:t>$3.59M sales</a:t>
            </a:r>
            <a:r>
              <a:rPr lang="en-GB" sz="1600">
                <a:solidFill>
                  <a:schemeClr val="dk1"/>
                </a:solidFill>
              </a:rPr>
              <a:t> and </a:t>
            </a:r>
            <a:r>
              <a:rPr b="1" lang="en-GB" sz="1600">
                <a:solidFill>
                  <a:schemeClr val="dk1"/>
                </a:solidFill>
              </a:rPr>
              <a:t>$436K profit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👥 </a:t>
            </a:r>
            <a:r>
              <a:rPr b="1" lang="en-GB" sz="1600">
                <a:solidFill>
                  <a:schemeClr val="dk1"/>
                </a:solidFill>
              </a:rPr>
              <a:t>Consumer is the Largest Segment:</a:t>
            </a:r>
            <a:r>
              <a:rPr lang="en-GB" sz="1600">
                <a:solidFill>
                  <a:schemeClr val="dk1"/>
                </a:solidFill>
              </a:rPr>
              <a:t> Consumer generated approximately </a:t>
            </a:r>
            <a:r>
              <a:rPr b="1" lang="en-GB" sz="1600">
                <a:solidFill>
                  <a:schemeClr val="dk1"/>
                </a:solidFill>
              </a:rPr>
              <a:t>$6.51M sales</a:t>
            </a:r>
            <a:r>
              <a:rPr lang="en-GB" sz="1600">
                <a:solidFill>
                  <a:schemeClr val="dk1"/>
                </a:solidFill>
              </a:rPr>
              <a:t> and </a:t>
            </a:r>
            <a:r>
              <a:rPr b="1" lang="en-GB" sz="1600">
                <a:solidFill>
                  <a:schemeClr val="dk1"/>
                </a:solidFill>
              </a:rPr>
              <a:t>$749K profit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⚠️ </a:t>
            </a:r>
            <a:r>
              <a:rPr b="1" lang="en-GB" sz="1600">
                <a:solidFill>
                  <a:schemeClr val="dk1"/>
                </a:solidFill>
              </a:rPr>
              <a:t>High Discounts Hurt Profitability:</a:t>
            </a:r>
            <a:r>
              <a:rPr lang="en-GB" sz="1600">
                <a:solidFill>
                  <a:schemeClr val="dk1"/>
                </a:solidFill>
              </a:rPr>
              <a:t> Transactions with </a:t>
            </a:r>
            <a:r>
              <a:rPr b="1" lang="en-GB" sz="1600">
                <a:solidFill>
                  <a:schemeClr val="dk1"/>
                </a:solidFill>
              </a:rPr>
              <a:t>&gt;50% discount</a:t>
            </a:r>
            <a:r>
              <a:rPr lang="en-GB" sz="1600">
                <a:solidFill>
                  <a:schemeClr val="dk1"/>
                </a:solidFill>
              </a:rPr>
              <a:t> generated approximately </a:t>
            </a:r>
            <a:r>
              <a:rPr b="1" lang="en-GB" sz="1600">
                <a:solidFill>
                  <a:schemeClr val="dk1"/>
                </a:solidFill>
              </a:rPr>
              <a:t>-$412.6K profit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Deep-Dive: Impact of Excessive Discounts 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264300" y="1017725"/>
            <a:ext cx="86154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I</a:t>
            </a:r>
            <a:r>
              <a:rPr b="1" lang="en-GB">
                <a:solidFill>
                  <a:schemeClr val="dk1"/>
                </a:solidFill>
              </a:rPr>
              <a:t>nitial Expectation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Higher discounts may increase sales volume and attract customers.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Expected additional sales to compensate for lower margins.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What the Data Shows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Transactions with </a:t>
            </a:r>
            <a:r>
              <a:rPr b="1" lang="en-GB">
                <a:solidFill>
                  <a:schemeClr val="dk1"/>
                </a:solidFill>
              </a:rPr>
              <a:t>&gt;50% discount</a:t>
            </a:r>
            <a:r>
              <a:rPr lang="en-GB">
                <a:solidFill>
                  <a:schemeClr val="dk1"/>
                </a:solidFill>
              </a:rPr>
              <a:t> generated approximately </a:t>
            </a:r>
            <a:r>
              <a:rPr b="1" lang="en-GB">
                <a:solidFill>
                  <a:schemeClr val="dk1"/>
                </a:solidFill>
              </a:rPr>
              <a:t>-$412.6K profit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This indicates a strong profitability concern at very high discount levels.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Why It Matters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Excessive discounts can reduce the selling price enough to outweigh the benefit of additional sales.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However, this dataset shows </a:t>
            </a:r>
            <a:r>
              <a:rPr b="1" lang="en-GB">
                <a:solidFill>
                  <a:schemeClr val="dk1"/>
                </a:solidFill>
              </a:rPr>
              <a:t>association, not proven causation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Business Takeaway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Discounting should be controlled and evaluated against profit margin, not sales volume alone.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Actionable Recommendations</a:t>
            </a:r>
            <a:endParaRPr sz="3200"/>
          </a:p>
        </p:txBody>
      </p:sp>
      <p:sp>
        <p:nvSpPr>
          <p:cNvPr id="81" name="Google Shape;81;p17"/>
          <p:cNvSpPr txBox="1"/>
          <p:nvPr/>
        </p:nvSpPr>
        <p:spPr>
          <a:xfrm>
            <a:off x="0" y="694150"/>
            <a:ext cx="8832300" cy="4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1. Control Excessive Discounts — HIGH PRIORITY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Review transactions with discounts above 50%.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Introduce discount limits/approval rules.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Owner:</a:t>
            </a:r>
            <a:r>
              <a:rPr lang="en-GB" sz="1100">
                <a:solidFill>
                  <a:schemeClr val="dk1"/>
                </a:solidFill>
              </a:rPr>
              <a:t> Pricing &amp; Sales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Success Measure:</a:t>
            </a:r>
            <a:r>
              <a:rPr lang="en-GB" sz="1100">
                <a:solidFill>
                  <a:schemeClr val="dk1"/>
                </a:solidFill>
              </a:rPr>
              <a:t> Profit margin, total profit, high-discount transactions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2. Invest in High-Performing Categories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Prioritize the </a:t>
            </a:r>
            <a:r>
              <a:rPr b="1" lang="en-GB" sz="1100">
                <a:solidFill>
                  <a:schemeClr val="dk1"/>
                </a:solidFill>
              </a:rPr>
              <a:t>Technology</a:t>
            </a:r>
            <a:r>
              <a:rPr lang="en-GB" sz="1100">
                <a:solidFill>
                  <a:schemeClr val="dk1"/>
                </a:solidFill>
              </a:rPr>
              <a:t> category.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Review weaker categories for improvement opportunities.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Owner:</a:t>
            </a:r>
            <a:r>
              <a:rPr lang="en-GB" sz="1100">
                <a:solidFill>
                  <a:schemeClr val="dk1"/>
                </a:solidFill>
              </a:rPr>
              <a:t> Product &amp; Sales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Success Measure:</a:t>
            </a:r>
            <a:r>
              <a:rPr lang="en-GB" sz="1100">
                <a:solidFill>
                  <a:schemeClr val="dk1"/>
                </a:solidFill>
              </a:rPr>
              <a:t> Category sales, profit and margin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3. Focus on Strong Markets &amp; Segments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Strengthen opportunities in </a:t>
            </a:r>
            <a:r>
              <a:rPr b="1" lang="en-GB" sz="1100">
                <a:solidFill>
                  <a:schemeClr val="dk1"/>
                </a:solidFill>
              </a:rPr>
              <a:t>APAC</a:t>
            </a:r>
            <a:r>
              <a:rPr lang="en-GB" sz="1100">
                <a:solidFill>
                  <a:schemeClr val="dk1"/>
                </a:solidFill>
              </a:rPr>
              <a:t> and the </a:t>
            </a:r>
            <a:r>
              <a:rPr b="1" lang="en-GB" sz="1100">
                <a:solidFill>
                  <a:schemeClr val="dk1"/>
                </a:solidFill>
              </a:rPr>
              <a:t>Consumer</a:t>
            </a:r>
            <a:r>
              <a:rPr lang="en-GB" sz="1100">
                <a:solidFill>
                  <a:schemeClr val="dk1"/>
                </a:solidFill>
              </a:rPr>
              <a:t> segment.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Owner:</a:t>
            </a:r>
            <a:r>
              <a:rPr lang="en-GB" sz="1100">
                <a:solidFill>
                  <a:schemeClr val="dk1"/>
                </a:solidFill>
              </a:rPr>
              <a:t> Marketing &amp; Regional Sales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Success Measure:</a:t>
            </a:r>
            <a:r>
              <a:rPr lang="en-GB" sz="1100">
                <a:solidFill>
                  <a:schemeClr val="dk1"/>
                </a:solidFill>
              </a:rPr>
              <a:t> Sales growth, profit and customer retention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Expected Impact</a:t>
            </a:r>
            <a:endParaRPr sz="2600"/>
          </a:p>
        </p:txBody>
      </p:sp>
      <p:sp>
        <p:nvSpPr>
          <p:cNvPr id="87" name="Google Shape;87;p18"/>
          <p:cNvSpPr txBox="1"/>
          <p:nvPr/>
        </p:nvSpPr>
        <p:spPr>
          <a:xfrm>
            <a:off x="113800" y="1017725"/>
            <a:ext cx="8520600" cy="3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📈 </a:t>
            </a:r>
            <a:r>
              <a:rPr b="1" lang="en-GB" sz="1100">
                <a:solidFill>
                  <a:schemeClr val="dk1"/>
                </a:solidFill>
              </a:rPr>
              <a:t>Revenue Growth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resources on high-performing categories, markets and segments.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💰 </a:t>
            </a:r>
            <a:r>
              <a:rPr b="1" lang="en-GB" sz="1100">
                <a:solidFill>
                  <a:schemeClr val="dk1"/>
                </a:solidFill>
              </a:rPr>
              <a:t>Improved Profitability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Reduce losses caused by excessive discounting.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Monitor profit margin along with sales.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🎯 </a:t>
            </a:r>
            <a:r>
              <a:rPr b="1" lang="en-GB" sz="1100">
                <a:solidFill>
                  <a:schemeClr val="dk1"/>
                </a:solidFill>
              </a:rPr>
              <a:t>Better Resource Allocation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Prioritize areas with stronger sales and profit contribution.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📊 </a:t>
            </a:r>
            <a:r>
              <a:rPr b="1" lang="en-GB" sz="1100">
                <a:solidFill>
                  <a:schemeClr val="dk1"/>
                </a:solidFill>
              </a:rPr>
              <a:t>Data-Driven Decision Making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 the interactive Looker Studio dashboard to monitor KPIs and performance.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649900" y="1785600"/>
            <a:ext cx="81108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Data is historical (</a:t>
            </a:r>
            <a:r>
              <a:rPr b="1" lang="en-GB" sz="1100">
                <a:solidFill>
                  <a:schemeClr val="dk1"/>
                </a:solidFill>
              </a:rPr>
              <a:t>2011–2014</a:t>
            </a:r>
            <a:r>
              <a:rPr lang="en-GB" sz="1100">
                <a:solidFill>
                  <a:schemeClr val="dk1"/>
                </a:solidFill>
              </a:rPr>
              <a:t>) and may not represent current market conditions.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Dataset does not include detailed marketing campaigns, customer satisfaction or competitor activity.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External factors affecting sales and profit are not available.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Discount analysis shows </a:t>
            </a:r>
            <a:r>
              <a:rPr b="1" lang="en-GB" sz="1100">
                <a:solidFill>
                  <a:schemeClr val="dk1"/>
                </a:solidFill>
              </a:rPr>
              <a:t>association, not proven causation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